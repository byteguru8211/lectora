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Здравствуйте! Мы — команда TeamMentality. Представляем Lectora: платформу, которая превращает обычное видео в структурированный, доступный для поиска и перевода источник знаний. За пять минут покажем проблему, решение, техническую основу и уже работающий MVP.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Видео стало главным форматом обучения и обмена опытом, но оно остаётся линейным. Чтобы найти один ответ, человек перематывает запись, делает заметки вручную и переключается между несколькими сервисами. Чем длиннее библиотека, тем дороже становится повторное использование уже записанных знаний.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Lectora собирает весь путь в одном интерфейсе. Пользователь загружает файл или ссылку, получает транскрипт с таймкодами, ищет не по точному слову, а по смыслу, формирует конспект, перевод и озвучку. Результат хранится в личной библиотеке, группируется и при необходимости открывается другим по ссылке.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Архитектуру проекта мы сохранили модульной. React-клиент общается с Flask API и PostgreSQL. FFmpeg готовит медиа, Whisper или Vosk распознаёт речь. BGE-M3 и reranker отвечают за семантический поиск. Для генерации можно выбрать DeepSeek API или локальную Qwen. CUDA ускоряет распознавание, NVENC — видео. Тяжёлые этапы изолированы, поэтому их можно вынести на отдельные воркеры без переделки 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Демонстрация проходит в трёх действиях. Первое: загружаем видео, выбираем исходный язык, перевод и видимость. Второе: после обработки открываем плеер — переключаем русские, английские или двойные субтитры и озвучку в одном интерфейсе. Третье: вводим смысловой запрос и сразу переходим к нужному таймкоду. Видео остаётся в библиотеке, его можно добавить в группу или открыть по ссылке.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отличие Lectora — не отдельная AI-функция, а цельный сценарий. Семантический поиск ведёт прямо к моменту. Локальный и облачный режимы дают выбор между приватностью и качеством. Права доступа позволяют использовать платформу и внутри команды, и публично. А мультиязычность делает одну запись полезной для более широкой аудитории.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MVP готов к пилоту на реальной библиотеке видео. Дальше мы масштабируем обработку через воркеры, добавим аналитику обучения и расширим набор языков и моделей. Lectora: видео заканчивается — знания остаются. Спасибо,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818120" y="0"/>
            <a:ext cx="4373575" cy="6858000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394192" y="256032"/>
            <a:ext cx="3200400" cy="6217920"/>
          </a:xfrm>
          <a:prstGeom prst="roundRect">
            <a:avLst>
              <a:gd name="adj" fmla="val 12000"/>
            </a:avLst>
          </a:prstGeom>
          <a:solidFill>
            <a:srgbClr val="192032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-lecture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475488"/>
            <a:ext cx="2889504" cy="1810512"/>
          </a:xfrm>
          <a:prstGeom prst="rect">
            <a:avLst/>
          </a:prstGeom>
        </p:spPr>
      </p:pic>
      <p:pic>
        <p:nvPicPr>
          <p:cNvPr id="5" name="Picture 4" descr="06-player-subtit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487168"/>
            <a:ext cx="2889504" cy="1810512"/>
          </a:xfrm>
          <a:prstGeom prst="rect">
            <a:avLst/>
          </a:prstGeom>
        </p:spPr>
      </p:pic>
      <p:pic>
        <p:nvPicPr>
          <p:cNvPr id="6" name="Picture 5" descr="05-account-grou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4498848"/>
            <a:ext cx="2889504" cy="18105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02920"/>
            <a:ext cx="1700784" cy="36576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16636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80B12"/>
                </a:solidFill>
                <a:latin typeface="Arial"/>
              </a:rPr>
              <a:t>TEAMMENTALITY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34440"/>
            <a:ext cx="658368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3600" b="1">
                <a:solidFill>
                  <a:srgbClr val="F8FAFC"/>
                </a:solidFill>
                <a:latin typeface="Arial"/>
              </a:rPr>
              <a:t>Lectora превращает видео
в знания за один
рабочий процесс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3703320"/>
            <a:ext cx="6583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BFA"/>
                </a:solidFill>
                <a:latin typeface="Arial"/>
              </a:rPr>
              <a:t>Поиск · конспект · перевод · субтитры · озвучка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4572000"/>
            <a:ext cx="53035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8FAFC"/>
                </a:solidFill>
                <a:latin typeface="Arial"/>
              </a:rPr>
              <a:t>Ковалёв Юрий Юрьевич
Орлов Александр Дмитриевич
Труфанова Валерия Витальевна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61447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Защита проекта · 5 минут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rial"/>
              </a:rPr>
              <a:t>ПРОБЛЕМА · 40 СЕКУНД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03504"/>
            <a:ext cx="1014984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8FAFC"/>
                </a:solidFill>
                <a:latin typeface="Arial"/>
              </a:rPr>
              <a:t>Видео хранит ответы, но заставляет искать их вручную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21792" cy="5029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8FAFC"/>
                </a:solidFill>
                <a:latin typeface="Arial"/>
              </a:rPr>
              <a:t>Линейное видео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17520" y="1965960"/>
            <a:ext cx="1097280" cy="0"/>
          </a:xfrm>
          <a:prstGeom prst="line">
            <a:avLst/>
          </a:prstGeom>
          <a:ln w="31750">
            <a:solidFill>
              <a:srgbClr val="FB7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17373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B7185"/>
                </a:solidFill>
                <a:latin typeface="Arial"/>
              </a:rPr>
              <a:t>нелинейный вопрос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43200"/>
            <a:ext cx="3456432" cy="2212848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990088"/>
            <a:ext cx="5669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49300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8FAFC"/>
                </a:solidFill>
                <a:latin typeface="Arial"/>
              </a:rPr>
              <a:t>Перемотка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041648"/>
            <a:ext cx="285292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Фрагмент ищут на глаз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62272" y="2743200"/>
            <a:ext cx="3456432" cy="2212848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18304" y="2990088"/>
            <a:ext cx="5669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8304" y="349300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8FAFC"/>
                </a:solidFill>
                <a:latin typeface="Arial"/>
              </a:rPr>
              <a:t>Ручной конспект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8304" y="4041648"/>
            <a:ext cx="285292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Заметки отнимают время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38744" y="2743200"/>
            <a:ext cx="3456432" cy="2212848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4776" y="2990088"/>
            <a:ext cx="5669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6" y="349300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8FAFC"/>
                </a:solidFill>
                <a:latin typeface="Arial"/>
              </a:rPr>
              <a:t>Несколько сервисов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4776" y="4041648"/>
            <a:ext cx="285292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Перевод и хранение раздельны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779008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A78BFA"/>
                </a:solidFill>
                <a:latin typeface="Arial"/>
              </a:rPr>
              <a:t>Итог: знания есть, доступа к ним нет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rial"/>
              </a:rPr>
              <a:t>РЕШЕНИЕ · 45 СЕКУНД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03504"/>
            <a:ext cx="1014984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8FAFC"/>
                </a:solidFill>
                <a:latin typeface="Arial"/>
              </a:rPr>
              <a:t>Lectora делает каждую запись доступной для поиска и обучения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21792" cy="5029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74519"/>
            <a:ext cx="2331720" cy="1572768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7824" y="2029968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039112"/>
            <a:ext cx="475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1168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Загрузить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542032"/>
            <a:ext cx="13898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файл / ссылка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54096" y="2615184"/>
            <a:ext cx="365760" cy="0"/>
          </a:xfrm>
          <a:prstGeom prst="line">
            <a:avLst/>
          </a:prstGeom>
          <a:ln w="2540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483863" y="1874519"/>
            <a:ext cx="2331720" cy="1572768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48456" y="2029968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8456" y="2039112"/>
            <a:ext cx="475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33672" y="201168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Распознать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33672" y="2542032"/>
            <a:ext cx="13898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речь + таймкоды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824727" y="2615184"/>
            <a:ext cx="365761" cy="0"/>
          </a:xfrm>
          <a:prstGeom prst="line">
            <a:avLst/>
          </a:prstGeom>
          <a:ln w="2540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54496" y="1874519"/>
            <a:ext cx="2331720" cy="1572768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19088" y="2029968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2039112"/>
            <a:ext cx="475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4304" y="201168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Найти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4304" y="2542032"/>
            <a:ext cx="13898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по смыслу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595360" y="2615184"/>
            <a:ext cx="365760" cy="0"/>
          </a:xfrm>
          <a:prstGeom prst="line">
            <a:avLst/>
          </a:prstGeom>
          <a:ln w="2540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025128" y="1874519"/>
            <a:ext cx="2331720" cy="1572768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89719" y="2029968"/>
            <a:ext cx="475488" cy="475488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89719" y="2039112"/>
            <a:ext cx="4754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80B12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74936" y="201168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Применить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74936" y="2542032"/>
            <a:ext cx="138988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перевод + конспект</a:t>
            </a:r>
          </a:p>
        </p:txBody>
      </p:sp>
      <p:pic>
        <p:nvPicPr>
          <p:cNvPr id="29" name="Picture 28" descr="01-libr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822191"/>
            <a:ext cx="4846320" cy="201168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5870448" y="3822191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9632" y="414223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8FAFC"/>
                </a:solidFill>
                <a:latin typeface="Arial"/>
              </a:rPr>
              <a:t>Одна платформа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599432"/>
            <a:ext cx="4389120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Библиотека и группы
Права доступа
Два языка и озвучка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rial"/>
              </a:rPr>
              <a:t>ТЕХНИЧЕСКАЯ РЕАЛИЗАЦИЯ · 60 СЕКУНД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03504"/>
            <a:ext cx="1014984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8FAFC"/>
                </a:solidFill>
                <a:latin typeface="Arial"/>
              </a:rPr>
              <a:t>Локальный конвейер соединяет ASR, поиск и две 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21792" cy="5029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55648"/>
            <a:ext cx="6620256" cy="694944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55648"/>
            <a:ext cx="73152" cy="694944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38528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rial"/>
              </a:rPr>
              <a:t>ПРОДУКТ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911095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React · Flask · PostgreSQL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624328"/>
            <a:ext cx="6620256" cy="694944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624328"/>
            <a:ext cx="73152" cy="694944"/>
          </a:xfrm>
          <a:prstGeom prst="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807208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Arial"/>
              </a:rPr>
              <a:t>МЕДИА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779776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FFmpeg · Whisper / Vosk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493008"/>
            <a:ext cx="6620256" cy="694944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493008"/>
            <a:ext cx="73152" cy="694944"/>
          </a:xfrm>
          <a:prstGeom prst="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675887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78BFA"/>
                </a:solidFill>
                <a:latin typeface="Arial"/>
              </a:rPr>
              <a:t>ПОИСК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3648456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BGE-M3 · reranker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361688"/>
            <a:ext cx="6620256" cy="694944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4361688"/>
            <a:ext cx="73152" cy="69494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544568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C3AED"/>
                </a:solidFill>
                <a:latin typeface="Arial"/>
              </a:rPr>
              <a:t>ГЕНЕРАЦИЯ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4517136"/>
            <a:ext cx="4251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DeepSeek API / Qwen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62672" y="1700784"/>
            <a:ext cx="3602736" cy="4059936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0144" y="2011680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F8FAFC"/>
                </a:solidFill>
                <a:latin typeface="Arial"/>
              </a:rPr>
              <a:t>Ускорение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0144" y="2615184"/>
            <a:ext cx="2907792" cy="1143000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10144" y="2615184"/>
            <a:ext cx="64008" cy="1143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6175" y="2798064"/>
            <a:ext cx="24963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8FAFC"/>
                </a:solidFill>
                <a:latin typeface="Arial"/>
              </a:rPr>
              <a:t>CUDA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3255263"/>
            <a:ext cx="24963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Arial"/>
              </a:rPr>
              <a:t>транскрибация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10144" y="3886200"/>
            <a:ext cx="2907792" cy="1143000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10144" y="3886200"/>
            <a:ext cx="64008" cy="1143000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6175" y="4069080"/>
            <a:ext cx="249631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8FAFC"/>
                </a:solidFill>
                <a:latin typeface="Arial"/>
              </a:rPr>
              <a:t>NVENC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5" y="4526280"/>
            <a:ext cx="24963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Arial"/>
              </a:rPr>
              <a:t>кодирование видео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8431" y="5330952"/>
            <a:ext cx="28163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4A3B8"/>
                </a:solidFill>
                <a:latin typeface="Arial"/>
              </a:rPr>
              <a:t>Выбор: локальная обработка или 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907024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A78BFA"/>
                </a:solidFill>
                <a:latin typeface="Arial"/>
              </a:rPr>
              <a:t>Тяжёлые этапы готовы к выносу на воркеры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rial"/>
              </a:rPr>
              <a:t>ДЕМОНСТРАЦИЯ · 60 СЕКУНД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03504"/>
            <a:ext cx="1014984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8FAFC"/>
                </a:solidFill>
                <a:latin typeface="Arial"/>
              </a:rPr>
              <a:t>MVP уже закрывает путь от загрузки до результата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21792" cy="5029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05</a:t>
            </a:r>
          </a:p>
        </p:txBody>
      </p:sp>
      <p:pic>
        <p:nvPicPr>
          <p:cNvPr id="6" name="Picture 5" descr="02-upload-trans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682496"/>
            <a:ext cx="5394960" cy="3374136"/>
          </a:xfrm>
          <a:prstGeom prst="rect">
            <a:avLst/>
          </a:prstGeom>
        </p:spPr>
      </p:pic>
      <p:pic>
        <p:nvPicPr>
          <p:cNvPr id="7" name="Picture 6" descr="06-player-subtit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1682496"/>
            <a:ext cx="5321808" cy="33741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68680" y="5193792"/>
            <a:ext cx="1828800" cy="365760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207507"/>
            <a:ext cx="18288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8FAFC"/>
                </a:solidFill>
                <a:latin typeface="Arial"/>
              </a:rPr>
              <a:t>1 · Язык и перевод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5193792"/>
            <a:ext cx="2148840" cy="36576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5207507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80B12"/>
                </a:solidFill>
                <a:latin typeface="Arial"/>
              </a:rPr>
              <a:t>2 · Субтитры и озвучка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70448"/>
            <a:ext cx="10424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Далее: поиск ведёт к точному таймкоду, результат сохраняется в библиотеке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rial"/>
              </a:rPr>
              <a:t>ЦЕННОСТЬ · 40 СЕКУНД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03504"/>
            <a:ext cx="1014984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8FAFC"/>
                </a:solidFill>
                <a:latin typeface="Arial"/>
              </a:rPr>
              <a:t>Один сервис заменяет просмотр, перевод и ручной конспект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21792" cy="5029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55648"/>
            <a:ext cx="5138928" cy="1627632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9264" y="2011680"/>
            <a:ext cx="109728" cy="1024128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01168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rial"/>
              </a:rPr>
              <a:t>ПО СМЫСЛУ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450591"/>
            <a:ext cx="41605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Поиск сразу ведёт к нужному моменту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55648"/>
            <a:ext cx="5138928" cy="1627632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73952" y="2011680"/>
            <a:ext cx="109728" cy="1024128"/>
          </a:xfrm>
          <a:prstGeom prst="roundRect">
            <a:avLst>
              <a:gd name="adj" fmla="val 12000"/>
            </a:avLst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4848" y="201168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78BFA"/>
                </a:solidFill>
                <a:latin typeface="Arial"/>
              </a:rPr>
              <a:t>ДВА РЕЖИМА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4848" y="2450591"/>
            <a:ext cx="41605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Локальная модель или облачный 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49039"/>
            <a:ext cx="5138928" cy="1627632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9264" y="4005072"/>
            <a:ext cx="109728" cy="1024128"/>
          </a:xfrm>
          <a:prstGeom prst="roundRect">
            <a:avLst>
              <a:gd name="adj" fmla="val 12000"/>
            </a:avLst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005072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4D399"/>
                </a:solidFill>
                <a:latin typeface="Arial"/>
              </a:rPr>
              <a:t>ДОСТУП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443983"/>
            <a:ext cx="41605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Группы, права и просмотр по ссылке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49039"/>
            <a:ext cx="5138928" cy="1627632"/>
          </a:xfrm>
          <a:prstGeom prst="roundRect">
            <a:avLst>
              <a:gd name="adj" fmla="val 12000"/>
            </a:avLst>
          </a:prstGeom>
          <a:solidFill>
            <a:srgbClr val="121826"/>
          </a:solidFill>
          <a:ln>
            <a:solidFill>
              <a:srgbClr val="192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73952" y="4005072"/>
            <a:ext cx="109728" cy="1024128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4848" y="4005072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C3AED"/>
                </a:solidFill>
                <a:latin typeface="Arial"/>
              </a:rPr>
              <a:t>ДВА ЯЗЫКА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4443983"/>
            <a:ext cx="41605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8FAFC"/>
                </a:solidFill>
                <a:latin typeface="Arial"/>
              </a:rPr>
              <a:t>Перевод, субтитры и озвучка RU ↔ 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852160"/>
            <a:ext cx="10424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BFA"/>
                </a:solidFill>
                <a:latin typeface="Arial"/>
              </a:rPr>
              <a:t>Практическая ценность: меньше повторной работы, больше повторного использования знаний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B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rial"/>
              </a:rPr>
              <a:t>ИТОГ · 20 СЕКУНД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03504"/>
            <a:ext cx="1014984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8FAFC"/>
                </a:solidFill>
                <a:latin typeface="Arial"/>
              </a:rPr>
              <a:t>Lectora готова к пилоту и масштабированию после хакатона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21792" cy="5029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5564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22D3EE"/>
                </a:solidFill>
                <a:latin typeface="Arial"/>
              </a:rPr>
              <a:t>Следующий шаг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8FAFC"/>
                </a:solidFill>
                <a:latin typeface="Arial"/>
              </a:rPr>
              <a:t>Пилот на реальной библиотеке видео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182112"/>
            <a:ext cx="475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78BFA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3145536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8FAFC"/>
                </a:solidFill>
                <a:latin typeface="Arial"/>
              </a:rPr>
              <a:t>масштабировать обработку воркерами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840480"/>
            <a:ext cx="475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78BFA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380390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8FAFC"/>
                </a:solidFill>
                <a:latin typeface="Arial"/>
              </a:rPr>
              <a:t>добавить аналитику обучения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98848"/>
            <a:ext cx="475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A78BFA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4462272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8FAFC"/>
                </a:solidFill>
                <a:latin typeface="Arial"/>
              </a:rPr>
              <a:t>расширить языки и модели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719072"/>
            <a:ext cx="3895344" cy="4224528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2249424"/>
            <a:ext cx="2926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8FAFC"/>
                </a:solidFill>
                <a:latin typeface="Arial"/>
              </a:rPr>
              <a:t>Lectora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4112" y="3072384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8FAFC"/>
                </a:solidFill>
                <a:latin typeface="Arial"/>
              </a:rPr>
              <a:t>Видео заканчивается.
Знания остаются.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5175504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rial"/>
              </a:rPr>
              <a:t>TeamMentality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61888"/>
            <a:ext cx="5852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Спасибо! Готовы ответить на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Lectora — защита проекта TeamMentality</dc:title>
  <dc:subject>Презентация на 5 минут для жюри хакатона</dc:subject>
  <dc:creator>TeamMentality</dc:creator>
  <cp:keywords>Lectora, TeamMentality, AI, видео, семантический поиск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